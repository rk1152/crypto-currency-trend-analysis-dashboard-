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Default ContentType="image/png" Extension="png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6" r:id="rId15"/>
    <p:sldId id="267" r:id="rId16"/>
    <p:sldId id="268" r:id="rId17"/>
    <p:sldId id="269" r:id="rId18"/>
    <p:sldId id="270" r:id="rId19"/>
    <p:sldId id="271" r:id="rId20"/>
    <p:sldId id="263" r:id="rId12"/>
    <p:sldId id="264" r:id="rId13"/>
    <p:sldId id="265" r:id="rId14"/>
  </p:sldIdLst>
  <p:sldSz cy="6858000" cx="9144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chart1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chart2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chart3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chart4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chart5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chart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20" name="BigCircle"/>
          <p:cNvSpPr>
            <a:spLocks noGrp="1"/>
          </p:cNvSpPr>
          <p:nvPr/>
        </p:nvSpPr>
        <p:spPr>
          <a:xfrm>
            <a:off x="7200000" y="-600000"/>
            <a:ext cx="3200000" cy="3200000"/>
          </a:xfrm>
          <a:prstGeom prst="ellipse">
            <a:avLst/>
          </a:prstGeom>
          <a:noFill/>
          <a:ln w="57150">
            <a:solidFill>
              <a:srgbClr val="F5A623">
                <a:alpha val="18000"/>
              </a:srgbClr>
            </a:solidFill>
          </a:ln>
        </p:spPr>
        <p:txBody>
          <a:bodyPr/>
          <a:lstStyle/>
          <a:p/>
        </p:txBody>
      </p:sp>
      <p:sp>
        <p:nvSpPr>
          <p:cNvPr id="21" name="MedCircle"/>
          <p:cNvSpPr>
            <a:spLocks noGrp="1"/>
          </p:cNvSpPr>
          <p:nvPr/>
        </p:nvSpPr>
        <p:spPr>
          <a:xfrm>
            <a:off x="7700000" y="-200000"/>
            <a:ext cx="2200000" cy="2200000"/>
          </a:xfrm>
          <a:prstGeom prst="ellipse">
            <a:avLst/>
          </a:prstGeom>
          <a:noFill/>
          <a:ln w="38100">
            <a:solidFill>
              <a:srgbClr val="F5A623">
                <a:alpha val="12000"/>
              </a:srgbClr>
            </a:solidFill>
          </a:ln>
        </p:spPr>
        <p:txBody>
          <a:bodyPr/>
          <a:lstStyle/>
          <a:p/>
        </p:txBody>
      </p:sp>
      <p:sp>
        <p:nvSpPr>
          <p:cNvPr id="22" name="SmallCircleFill"/>
          <p:cNvSpPr>
            <a:spLocks noGrp="1"/>
          </p:cNvSpPr>
          <p:nvPr/>
        </p:nvSpPr>
        <p:spPr>
          <a:xfrm>
            <a:off x="8400000" y="400000"/>
            <a:ext cx="457200" cy="457200"/>
          </a:xfrm>
          <a:prstGeom prst="ellipse">
            <a:avLst/>
          </a:prstGeom>
          <a:solidFill>
            <a:srgbClr val="F5A623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Hex1"/>
          <p:cNvSpPr>
            <a:spLocks noGrp="1"/>
          </p:cNvSpPr>
          <p:nvPr/>
        </p:nvSpPr>
        <p:spPr>
          <a:xfrm rot="1800000">
            <a:off x="7900000" y="200000"/>
            <a:ext cx="800000" cy="800000"/>
          </a:xfrm>
          <a:prstGeom prst="hexagon">
            <a:avLst/>
          </a:prstGeom>
          <a:noFill/>
          <a:ln w="28575">
            <a:solidFill>
              <a:srgbClr val="A8C8E8">
                <a:alpha val="25000"/>
              </a:srgbClr>
            </a:solidFill>
          </a:ln>
        </p:spPr>
        <p:txBody>
          <a:bodyPr/>
          <a:lstStyle/>
          <a:p/>
        </p:txBody>
      </p:sp>
      <p:sp>
        <p:nvSpPr>
          <p:cNvPr id="24" name="Hex2"/>
          <p:cNvSpPr>
            <a:spLocks noGrp="1"/>
          </p:cNvSpPr>
          <p:nvPr/>
        </p:nvSpPr>
        <p:spPr>
          <a:xfrm rot="1800000">
            <a:off x="8500000" y="800000"/>
            <a:ext cx="457200" cy="457200"/>
          </a:xfrm>
          <a:prstGeom prst="hexagon">
            <a:avLst/>
          </a:prstGeom>
          <a:solidFill>
            <a:srgbClr val="1C3A5C">
              <a:alpha val="60000"/>
            </a:srgbClr>
          </a:solidFill>
          <a:ln w="19050">
            <a:solidFill>
              <a:srgbClr val="A8C8E8">
                <a:alpha val="30000"/>
              </a:srgbClr>
            </a:solidFill>
          </a:ln>
        </p:spPr>
        <p:txBody>
          <a:bodyPr/>
          <a:lstStyle/>
          <a:p/>
        </p:txBody>
      </p:sp>
      <p:sp>
        <p:nvSpPr>
          <p:cNvPr id="25" name="BottomCircle"/>
          <p:cNvSpPr>
            <a:spLocks noGrp="1"/>
          </p:cNvSpPr>
          <p:nvPr/>
        </p:nvSpPr>
        <p:spPr>
          <a:xfrm>
            <a:off x="-600000" y="3800000"/>
            <a:ext cx="2800000" cy="2800000"/>
          </a:xfrm>
          <a:prstGeom prst="ellipse">
            <a:avLst/>
          </a:prstGeom>
          <a:noFill/>
          <a:ln w="57150">
            <a:solidFill>
              <a:srgbClr val="A8C8E8">
                <a:alpha val="10000"/>
              </a:srgbClr>
            </a:solidFill>
          </a:ln>
        </p:spPr>
        <p:txBody>
          <a:bodyPr/>
          <a:lstStyle/>
          <a:p/>
        </p:txBody>
      </p:sp>
      <p:sp>
        <p:nvSpPr>
          <p:cNvPr id="30" name="Dot1"/>
          <p:cNvSpPr>
            <a:spLocks noGrp="1"/>
          </p:cNvSpPr>
          <p:nvPr/>
        </p:nvSpPr>
        <p:spPr>
          <a:xfrm>
            <a:off x="6858000" y="4572000"/>
            <a:ext cx="91440" cy="91440"/>
          </a:xfrm>
          <a:prstGeom prst="ellipse">
            <a:avLst/>
          </a:prstGeom>
          <a:solidFill>
            <a:srgbClr val="F5A623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Dot2"/>
          <p:cNvSpPr>
            <a:spLocks noGrp="1"/>
          </p:cNvSpPr>
          <p:nvPr/>
        </p:nvSpPr>
        <p:spPr>
          <a:xfrm>
            <a:off x="7200000" y="4572000"/>
            <a:ext cx="91440" cy="91440"/>
          </a:xfrm>
          <a:prstGeom prst="ellipse">
            <a:avLst/>
          </a:prstGeom>
          <a:solidFill>
            <a:srgbClr val="F5A623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Dot3"/>
          <p:cNvSpPr>
            <a:spLocks noGrp="1"/>
          </p:cNvSpPr>
          <p:nvPr/>
        </p:nvSpPr>
        <p:spPr>
          <a:xfrm>
            <a:off x="7543200" y="4572000"/>
            <a:ext cx="91440" cy="91440"/>
          </a:xfrm>
          <a:prstGeom prst="ellipse">
            <a:avLst/>
          </a:prstGeom>
          <a:solidFill>
            <a:srgbClr val="F5A623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Dot4"/>
          <p:cNvSpPr>
            <a:spLocks noGrp="1"/>
          </p:cNvSpPr>
          <p:nvPr/>
        </p:nvSpPr>
        <p:spPr>
          <a:xfrm>
            <a:off x="7886400" y="4572000"/>
            <a:ext cx="91440" cy="91440"/>
          </a:xfrm>
          <a:prstGeom prst="ellipse">
            <a:avLst/>
          </a:prstGeom>
          <a:solidFill>
            <a:srgbClr val="F5A623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Dot5"/>
          <p:cNvSpPr>
            <a:spLocks noGrp="1"/>
          </p:cNvSpPr>
          <p:nvPr/>
        </p:nvSpPr>
        <p:spPr>
          <a:xfrm>
            <a:off x="6858000" y="4915200"/>
            <a:ext cx="91440" cy="91440"/>
          </a:xfrm>
          <a:prstGeom prst="ellipse">
            <a:avLst/>
          </a:prstGeom>
          <a:solidFill>
            <a:srgbClr val="A8C8E8">
              <a:alpha val="3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Dot6"/>
          <p:cNvSpPr>
            <a:spLocks noGrp="1"/>
          </p:cNvSpPr>
          <p:nvPr/>
        </p:nvSpPr>
        <p:spPr>
          <a:xfrm>
            <a:off x="7200000" y="4915200"/>
            <a:ext cx="91440" cy="91440"/>
          </a:xfrm>
          <a:prstGeom prst="ellipse">
            <a:avLst/>
          </a:prstGeom>
          <a:solidFill>
            <a:srgbClr val="A8C8E8">
              <a:alpha val="3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Dot7"/>
          <p:cNvSpPr>
            <a:spLocks noGrp="1"/>
          </p:cNvSpPr>
          <p:nvPr/>
        </p:nvSpPr>
        <p:spPr>
          <a:xfrm>
            <a:off x="7543200" y="4915200"/>
            <a:ext cx="91440" cy="91440"/>
          </a:xfrm>
          <a:prstGeom prst="ellipse">
            <a:avLst/>
          </a:prstGeom>
          <a:solidFill>
            <a:srgbClr val="A8C8E8">
              <a:alpha val="3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Dot8"/>
          <p:cNvSpPr>
            <a:spLocks noGrp="1"/>
          </p:cNvSpPr>
          <p:nvPr/>
        </p:nvSpPr>
        <p:spPr>
          <a:xfrm>
            <a:off x="7886400" y="4915200"/>
            <a:ext cx="91440" cy="91440"/>
          </a:xfrm>
          <a:prstGeom prst="ellipse">
            <a:avLst/>
          </a:prstGeom>
          <a:solidFill>
            <a:srgbClr val="A8C8E8">
              <a:alpha val="3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LineArt1"/>
          <p:cNvSpPr>
            <a:spLocks noGrp="1"/>
          </p:cNvSpPr>
          <p:nvPr/>
        </p:nvSpPr>
        <p:spPr>
          <a:xfrm rot="-2400000">
            <a:off x="6800000" y="3000000"/>
            <a:ext cx="2400000" cy="19050"/>
          </a:xfrm>
          <a:prstGeom prst="rect">
            <a:avLst/>
          </a:prstGeom>
          <a:solidFill>
            <a:srgbClr val="F5A623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LineArt2"/>
          <p:cNvSpPr>
            <a:spLocks noGrp="1"/>
          </p:cNvSpPr>
          <p:nvPr/>
        </p:nvSpPr>
        <p:spPr>
          <a:xfrm rot="-1800000">
            <a:off x="6900000" y="3400000"/>
            <a:ext cx="1800000" cy="19050"/>
          </a:xfrm>
          <a:prstGeom prst="rect">
            <a:avLst/>
          </a:prstGeom>
          <a:solidFill>
            <a:srgbClr val="A8C8E8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riangle"/>
          <p:cNvSpPr>
            <a:spLocks noGrp="1"/>
          </p:cNvSpPr>
          <p:nvPr/>
        </p:nvSpPr>
        <p:spPr>
          <a:xfrm>
            <a:off x="7700000" y="3600000"/>
            <a:ext cx="600000" cy="600000"/>
          </a:xfrm>
          <a:prstGeom prst="triangle">
            <a:avLst/>
          </a:prstGeom>
          <a:noFill/>
          <a:ln w="19050">
            <a:solidFill>
              <a:srgbClr val="F5A623">
                <a:alpha val="28000"/>
              </a:srgbClr>
            </a:solidFill>
          </a:ln>
        </p:spPr>
        <p:txBody>
          <a:bodyPr/>
          <a:lstStyle/>
          <a:p/>
        </p:txBody>
      </p:sp>
      <p:sp>
        <p:nvSpPr>
          <p:cNvPr id="10" name="AccentBar"/>
          <p:cNvSpPr>
            <a:spLocks noGrp="1"/>
          </p:cNvSpPr>
          <p:nvPr/>
        </p:nvSpPr>
        <p:spPr>
          <a:xfrm>
            <a:off x="457200" y="1100000"/>
            <a:ext cx="91440" cy="320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900000"/>
            <a:ext cx="6000000" cy="1500000"/>
          </a:xfrm>
        </p:spPr>
        <p:txBody>
          <a:bodyPr anchor="ctr"/>
          <a:lstStyle/>
          <a:p>
            <a:pPr algn="l"/>
            <a:r>
              <a:rPr lang="en-US" sz="4400" b="1" dirty="0">
                <a:solidFill>
                  <a:srgbClr val="FFFFFF"/>
                </a:solidFill>
                <a:latin typeface="Calibri"/>
              </a:rPr>
              <a:t>Cryptocurrency Trend Analysis</a:t>
            </a:r>
          </a:p>
          <a:p>
            <a:pPr algn="l"/>
            <a:r>
              <a:rPr lang="en-US" sz="3200" b="1" dirty="0">
                <a:solidFill>
                  <a:srgbClr val="F5A623"/>
                </a:solidFill>
                <a:latin typeface="Calibri"/>
              </a:rPr>
              <a:t>Using Data Visualization</a:t>
            </a:r>
          </a:p>
        </p:txBody>
      </p:sp>
      <p:sp>
        <p:nvSpPr>
          <p:cNvPr id="3" name="Subtitle"/>
          <p:cNvSpPr>
            <a:spLocks noGrp="1"/>
          </p:cNvSpPr>
          <p:nvPr>
            <p:ph idx="1"/>
          </p:nvPr>
        </p:nvSpPr>
        <p:spPr>
          <a:xfrm>
            <a:off x="640080" y="2550000"/>
            <a:ext cx="6000000" cy="1900000"/>
          </a:xfrm>
        </p:spPr>
        <p:txBody>
          <a:bodyPr anchor="t"/>
          <a:lstStyle/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F5A623"/>
                </a:solidFill>
                <a:latin typeface="Calibri"/>
              </a:rPr>
              <a:t>BCA AI &amp; DS</a:t>
            </a:r>
          </a:p>
          <a:p>
            <a:pPr algn="l">
              <a:spcBef>
                <a:spcPts val="300"/>
              </a:spcBef>
            </a:pPr>
            <a:r>
              <a:rPr lang="en-US" sz="1500" b="0" dirty="0">
                <a:solidFill>
                  <a:srgbClr val="A8C8E8"/>
                </a:solidFill>
                <a:latin typeface="Calibri"/>
              </a:rPr>
              <a:t>Riyaz Ahamed S</a:t>
            </a:r>
          </a:p>
          <a:p>
            <a:pPr algn="l">
              <a:spcBef>
                <a:spcPts val="150"/>
              </a:spcBef>
            </a:pPr>
            <a:r>
              <a:rPr lang="en-US" sz="1500" b="0" dirty="0">
                <a:solidFill>
                  <a:srgbClr val="A8C8E8"/>
                </a:solidFill>
                <a:latin typeface="Calibri"/>
              </a:rPr>
              <a:t>Rohith Kumar R</a:t>
            </a:r>
          </a:p>
          <a:p>
            <a:pPr algn="l">
              <a:spcBef>
                <a:spcPts val="150"/>
              </a:spcBef>
            </a:pPr>
            <a:r>
              <a:rPr lang="en-US" sz="1500" b="0" dirty="0">
                <a:solidFill>
                  <a:srgbClr val="A8C8E8"/>
                </a:solidFill>
                <a:latin typeface="Calibri"/>
              </a:rPr>
              <a:t>Sunil Kumar S</a:t>
            </a:r>
          </a:p>
          <a:p>
            <a:pPr algn="l">
              <a:spcBef>
                <a:spcPts val="150"/>
              </a:spcBef>
            </a:pPr>
            <a:r>
              <a:rPr lang="en-US" sz="1500" b="0" dirty="0">
                <a:solidFill>
                  <a:srgbClr val="A8C8E8"/>
                </a:solidFill>
                <a:latin typeface="Calibri"/>
              </a:rPr>
              <a:t>Rishi Keshan G</a:t>
            </a:r>
          </a:p>
          <a:p>
            <a:pPr algn="l">
              <a:spcBef>
                <a:spcPts val="150"/>
              </a:spcBef>
            </a:pPr>
            <a:r>
              <a:rPr lang="en-US" sz="1500" b="0" dirty="0">
                <a:solidFill>
                  <a:srgbClr val="A8C8E8"/>
                </a:solidFill>
                <a:latin typeface="Calibri"/>
              </a:rPr>
              <a:t>Sakthi Niranjan S</a:t>
            </a:r>
          </a:p>
        </p:txBody>
      </p:sp>
      <p:sp>
        <p:nvSpPr>
          <p:cNvPr id="11" name="DividerLine"/>
          <p:cNvSpPr>
            <a:spLocks noGrp="1"/>
          </p:cNvSpPr>
          <p:nvPr/>
        </p:nvSpPr>
        <p:spPr>
          <a:xfrm>
            <a:off x="457200" y="4400000"/>
            <a:ext cx="8229600" cy="45720"/>
          </a:xfrm>
          <a:prstGeom prst="rect">
            <a:avLst/>
          </a:prstGeom>
          <a:solidFill>
            <a:srgbClr val="1C3A5C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50" name="ArtCircle"/>
          <p:cNvSpPr>
            <a:spLocks noGrp="1"/>
          </p:cNvSpPr>
          <p:nvPr/>
        </p:nvSpPr>
        <p:spPr>
          <a:xfrm>
            <a:off x="7800000" y="-300000"/>
            <a:ext cx="1800000" cy="1800000"/>
          </a:xfrm>
          <a:prstGeom prst="ellipse">
            <a:avLst/>
          </a:prstGeom>
          <a:noFill/>
          <a:ln w="38100">
            <a:solidFill>
              <a:srgbClr val="F5A623">
                <a:alpha val="12000"/>
              </a:srgbClr>
            </a:solidFill>
          </a:ln>
        </p:spPr>
        <p:txBody>
          <a:bodyPr/>
          <a:lstStyle/>
          <a:p/>
        </p:txBody>
      </p:sp>
      <p:sp>
        <p:nvSpPr>
          <p:cNvPr id="51" name="ArtDot"/>
          <p:cNvSpPr>
            <a:spLocks noGrp="1"/>
          </p:cNvSpPr>
          <p:nvPr/>
        </p:nvSpPr>
        <p:spPr>
          <a:xfrm>
            <a:off x="8400000" y="300000"/>
            <a:ext cx="228600" cy="228600"/>
          </a:xfrm>
          <a:prstGeom prst="ellipse">
            <a:avLst/>
          </a:prstGeom>
          <a:solidFill>
            <a:srgbClr val="F5A623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ArtHex"/>
          <p:cNvSpPr>
            <a:spLocks noGrp="1"/>
          </p:cNvSpPr>
          <p:nvPr/>
        </p:nvSpPr>
        <p:spPr>
          <a:xfrm rot="1800000">
            <a:off x="8100000" y="5600000"/>
            <a:ext cx="500000" cy="500000"/>
          </a:xfrm>
          <a:prstGeom prst="hexagon">
            <a:avLst/>
          </a:prstGeom>
          <a:noFill/>
          <a:ln w="19050">
            <a:solidFill>
              <a:srgbClr val="A8C8E8">
                <a:alpha val="20000"/>
              </a:srgbClr>
            </a:solidFill>
          </a:ln>
        </p:spPr>
        <p:txBody>
          <a:bodyPr/>
          <a:lstStyle/>
          <a:p/>
        </p:txBody>
      </p:sp>
      <p:sp>
        <p:nvSpPr>
          <p:cNvPr id="53" name="ArtArc"/>
          <p:cNvSpPr>
            <a:spLocks noGrp="1"/>
          </p:cNvSpPr>
          <p:nvPr/>
        </p:nvSpPr>
        <p:spPr>
          <a:xfrm>
            <a:off x="-400000" y="5000000"/>
            <a:ext cx="1400000" cy="1400000"/>
          </a:xfrm>
          <a:prstGeom prst="ellipse">
            <a:avLst/>
          </a:prstGeom>
          <a:noFill/>
          <a:ln w="28575">
            <a:solidFill>
              <a:srgbClr val="A8C8E8">
                <a:alpha val="8000"/>
              </a:srgbClr>
            </a:solidFill>
          </a:ln>
        </p:spPr>
        <p:txBody>
          <a:bodyPr/>
          <a:lstStyle/>
          <a:p/>
        </p:txBody>
      </p:sp>
      <p:sp>
        <p:nvSpPr>
          <p:cNvPr id="10" name="TopBar"/>
          <p:cNvSpPr>
            <a:spLocks noGrp="1"/>
          </p:cNvSpPr>
          <p:nvPr/>
        </p:nvSpPr>
        <p:spPr>
          <a:xfrm>
            <a:off x="457200" y="457200"/>
            <a:ext cx="822960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85800"/>
          </a:xfrm>
        </p:spPr>
        <p:txBody>
          <a:bodyPr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114800"/>
          </a:xfrm>
          <a:solidFill>
            <a:srgbClr val="122136"/>
          </a:solidFill>
        </p:spPr>
        <p:txBody>
          <a:bodyPr lIns="228600" rIns="228600" tIns="228600" bIns="228600" anchor="t"/>
          <a:lstStyle/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Cryptocurrency is a decentralized digital currency secured by blockchain technology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Rapid price fluctuations make manual tracking unreliable and time-consuming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Trend analysis reveals market behavior, investment patterns, and risk indicators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Data visualization transforms raw financial data into actionable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50" name="ArtCircle"/>
          <p:cNvSpPr>
            <a:spLocks noGrp="1"/>
          </p:cNvSpPr>
          <p:nvPr/>
        </p:nvSpPr>
        <p:spPr>
          <a:xfrm>
            <a:off x="7800000" y="-300000"/>
            <a:ext cx="1800000" cy="1800000"/>
          </a:xfrm>
          <a:prstGeom prst="ellipse">
            <a:avLst/>
          </a:prstGeom>
          <a:noFill/>
          <a:ln w="38100">
            <a:solidFill>
              <a:srgbClr val="F5A623">
                <a:alpha val="12000"/>
              </a:srgbClr>
            </a:solidFill>
          </a:ln>
        </p:spPr>
        <p:txBody>
          <a:bodyPr/>
          <a:lstStyle/>
          <a:p/>
        </p:txBody>
      </p:sp>
      <p:sp>
        <p:nvSpPr>
          <p:cNvPr id="51" name="ArtDot"/>
          <p:cNvSpPr>
            <a:spLocks noGrp="1"/>
          </p:cNvSpPr>
          <p:nvPr/>
        </p:nvSpPr>
        <p:spPr>
          <a:xfrm>
            <a:off x="8400000" y="300000"/>
            <a:ext cx="228600" cy="228600"/>
          </a:xfrm>
          <a:prstGeom prst="ellipse">
            <a:avLst/>
          </a:prstGeom>
          <a:solidFill>
            <a:srgbClr val="F5A623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ArtHex"/>
          <p:cNvSpPr>
            <a:spLocks noGrp="1"/>
          </p:cNvSpPr>
          <p:nvPr/>
        </p:nvSpPr>
        <p:spPr>
          <a:xfrm rot="1800000">
            <a:off x="8100000" y="5600000"/>
            <a:ext cx="500000" cy="500000"/>
          </a:xfrm>
          <a:prstGeom prst="hexagon">
            <a:avLst/>
          </a:prstGeom>
          <a:noFill/>
          <a:ln w="19050">
            <a:solidFill>
              <a:srgbClr val="A8C8E8">
                <a:alpha val="20000"/>
              </a:srgbClr>
            </a:solidFill>
          </a:ln>
        </p:spPr>
        <p:txBody>
          <a:bodyPr/>
          <a:lstStyle/>
          <a:p/>
        </p:txBody>
      </p:sp>
      <p:sp>
        <p:nvSpPr>
          <p:cNvPr id="53" name="ArtArc"/>
          <p:cNvSpPr>
            <a:spLocks noGrp="1"/>
          </p:cNvSpPr>
          <p:nvPr/>
        </p:nvSpPr>
        <p:spPr>
          <a:xfrm>
            <a:off x="-400000" y="5000000"/>
            <a:ext cx="1400000" cy="1400000"/>
          </a:xfrm>
          <a:prstGeom prst="ellipse">
            <a:avLst/>
          </a:prstGeom>
          <a:noFill/>
          <a:ln w="28575">
            <a:solidFill>
              <a:srgbClr val="A8C8E8">
                <a:alpha val="8000"/>
              </a:srgbClr>
            </a:solidFill>
          </a:ln>
        </p:spPr>
        <p:txBody>
          <a:bodyPr/>
          <a:lstStyle/>
          <a:p/>
        </p:txBody>
      </p:sp>
      <p:sp>
        <p:nvSpPr>
          <p:cNvPr id="10" name="TopBar"/>
          <p:cNvSpPr>
            <a:spLocks noGrp="1"/>
          </p:cNvSpPr>
          <p:nvPr/>
        </p:nvSpPr>
        <p:spPr>
          <a:xfrm>
            <a:off x="457200" y="457200"/>
            <a:ext cx="822960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85800"/>
          </a:xfrm>
        </p:spPr>
        <p:txBody>
          <a:bodyPr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114800"/>
          </a:xfrm>
          <a:solidFill>
            <a:srgbClr val="122136"/>
          </a:solidFill>
        </p:spPr>
        <p:txBody>
          <a:bodyPr lIns="228600" rIns="228600" tIns="228600" bIns="228600" anchor="t"/>
          <a:lstStyle/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Cryptocurrency prices fluctuate rapidly — often by 10–30% within hours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Manual monitoring of multiple assets across time is impractical at scale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Raw tabular data makes it difficult to spot patterns, correlations, or anomalies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A systematic visual analytics approach is needed for reliable interpretation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50" name="ArtCircle"/>
          <p:cNvSpPr>
            <a:spLocks noGrp="1"/>
          </p:cNvSpPr>
          <p:nvPr/>
        </p:nvSpPr>
        <p:spPr>
          <a:xfrm>
            <a:off x="7800000" y="-300000"/>
            <a:ext cx="1800000" cy="1800000"/>
          </a:xfrm>
          <a:prstGeom prst="ellipse">
            <a:avLst/>
          </a:prstGeom>
          <a:noFill/>
          <a:ln w="38100">
            <a:solidFill>
              <a:srgbClr val="F5A623">
                <a:alpha val="12000"/>
              </a:srgbClr>
            </a:solidFill>
          </a:ln>
        </p:spPr>
        <p:txBody>
          <a:bodyPr/>
          <a:lstStyle/>
          <a:p/>
        </p:txBody>
      </p:sp>
      <p:sp>
        <p:nvSpPr>
          <p:cNvPr id="51" name="ArtDot"/>
          <p:cNvSpPr>
            <a:spLocks noGrp="1"/>
          </p:cNvSpPr>
          <p:nvPr/>
        </p:nvSpPr>
        <p:spPr>
          <a:xfrm>
            <a:off x="8400000" y="300000"/>
            <a:ext cx="228600" cy="228600"/>
          </a:xfrm>
          <a:prstGeom prst="ellipse">
            <a:avLst/>
          </a:prstGeom>
          <a:solidFill>
            <a:srgbClr val="F5A623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ArtHex"/>
          <p:cNvSpPr>
            <a:spLocks noGrp="1"/>
          </p:cNvSpPr>
          <p:nvPr/>
        </p:nvSpPr>
        <p:spPr>
          <a:xfrm rot="1800000">
            <a:off x="8100000" y="5600000"/>
            <a:ext cx="500000" cy="500000"/>
          </a:xfrm>
          <a:prstGeom prst="hexagon">
            <a:avLst/>
          </a:prstGeom>
          <a:noFill/>
          <a:ln w="19050">
            <a:solidFill>
              <a:srgbClr val="A8C8E8">
                <a:alpha val="20000"/>
              </a:srgbClr>
            </a:solidFill>
          </a:ln>
        </p:spPr>
        <p:txBody>
          <a:bodyPr/>
          <a:lstStyle/>
          <a:p/>
        </p:txBody>
      </p:sp>
      <p:sp>
        <p:nvSpPr>
          <p:cNvPr id="53" name="ArtArc"/>
          <p:cNvSpPr>
            <a:spLocks noGrp="1"/>
          </p:cNvSpPr>
          <p:nvPr/>
        </p:nvSpPr>
        <p:spPr>
          <a:xfrm>
            <a:off x="-400000" y="5000000"/>
            <a:ext cx="1400000" cy="1400000"/>
          </a:xfrm>
          <a:prstGeom prst="ellipse">
            <a:avLst/>
          </a:prstGeom>
          <a:noFill/>
          <a:ln w="28575">
            <a:solidFill>
              <a:srgbClr val="A8C8E8">
                <a:alpha val="8000"/>
              </a:srgbClr>
            </a:solidFill>
          </a:ln>
        </p:spPr>
        <p:txBody>
          <a:bodyPr/>
          <a:lstStyle/>
          <a:p/>
        </p:txBody>
      </p:sp>
      <p:sp>
        <p:nvSpPr>
          <p:cNvPr id="10" name="TopBar"/>
          <p:cNvSpPr>
            <a:spLocks noGrp="1"/>
          </p:cNvSpPr>
          <p:nvPr/>
        </p:nvSpPr>
        <p:spPr>
          <a:xfrm>
            <a:off x="457200" y="457200"/>
            <a:ext cx="822960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85800"/>
          </a:xfrm>
        </p:spPr>
        <p:txBody>
          <a:bodyPr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114800"/>
          </a:xfrm>
          <a:solidFill>
            <a:srgbClr val="122136"/>
          </a:solidFill>
        </p:spPr>
        <p:txBody>
          <a:bodyPr lIns="228600" rIns="228600" tIns="228600" bIns="228600" anchor="t"/>
          <a:lstStyle/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Analyze historical cryptocurrency price trends across BTC, ETH, and DOGE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Compare cross-asset market performance over time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Visualize price movement using trend and moving average charts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Study trading volume patterns to identify activity spikes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Understand market relationships through correlation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50" name="ArtCircle"/>
          <p:cNvSpPr>
            <a:spLocks noGrp="1"/>
          </p:cNvSpPr>
          <p:nvPr/>
        </p:nvSpPr>
        <p:spPr>
          <a:xfrm>
            <a:off x="7800000" y="-300000"/>
            <a:ext cx="1800000" cy="1800000"/>
          </a:xfrm>
          <a:prstGeom prst="ellipse">
            <a:avLst/>
          </a:prstGeom>
          <a:noFill/>
          <a:ln w="38100">
            <a:solidFill>
              <a:srgbClr val="F5A623">
                <a:alpha val="12000"/>
              </a:srgbClr>
            </a:solidFill>
          </a:ln>
        </p:spPr>
        <p:txBody>
          <a:bodyPr/>
          <a:lstStyle/>
          <a:p/>
        </p:txBody>
      </p:sp>
      <p:sp>
        <p:nvSpPr>
          <p:cNvPr id="51" name="ArtDot"/>
          <p:cNvSpPr>
            <a:spLocks noGrp="1"/>
          </p:cNvSpPr>
          <p:nvPr/>
        </p:nvSpPr>
        <p:spPr>
          <a:xfrm>
            <a:off x="8400000" y="300000"/>
            <a:ext cx="228600" cy="228600"/>
          </a:xfrm>
          <a:prstGeom prst="ellipse">
            <a:avLst/>
          </a:prstGeom>
          <a:solidFill>
            <a:srgbClr val="F5A623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ArtHex"/>
          <p:cNvSpPr>
            <a:spLocks noGrp="1"/>
          </p:cNvSpPr>
          <p:nvPr/>
        </p:nvSpPr>
        <p:spPr>
          <a:xfrm rot="1800000">
            <a:off x="8100000" y="5600000"/>
            <a:ext cx="500000" cy="500000"/>
          </a:xfrm>
          <a:prstGeom prst="hexagon">
            <a:avLst/>
          </a:prstGeom>
          <a:noFill/>
          <a:ln w="19050">
            <a:solidFill>
              <a:srgbClr val="A8C8E8">
                <a:alpha val="20000"/>
              </a:srgbClr>
            </a:solidFill>
          </a:ln>
        </p:spPr>
        <p:txBody>
          <a:bodyPr/>
          <a:lstStyle/>
          <a:p/>
        </p:txBody>
      </p:sp>
      <p:sp>
        <p:nvSpPr>
          <p:cNvPr id="53" name="ArtArc"/>
          <p:cNvSpPr>
            <a:spLocks noGrp="1"/>
          </p:cNvSpPr>
          <p:nvPr/>
        </p:nvSpPr>
        <p:spPr>
          <a:xfrm>
            <a:off x="-400000" y="5000000"/>
            <a:ext cx="1400000" cy="1400000"/>
          </a:xfrm>
          <a:prstGeom prst="ellipse">
            <a:avLst/>
          </a:prstGeom>
          <a:noFill/>
          <a:ln w="28575">
            <a:solidFill>
              <a:srgbClr val="A8C8E8">
                <a:alpha val="8000"/>
              </a:srgbClr>
            </a:solidFill>
          </a:ln>
        </p:spPr>
        <p:txBody>
          <a:bodyPr/>
          <a:lstStyle/>
          <a:p/>
        </p:txBody>
      </p:sp>
      <p:sp>
        <p:nvSpPr>
          <p:cNvPr id="10" name="TopBar"/>
          <p:cNvSpPr>
            <a:spLocks noGrp="1"/>
          </p:cNvSpPr>
          <p:nvPr/>
        </p:nvSpPr>
        <p:spPr>
          <a:xfrm>
            <a:off x="457200" y="457200"/>
            <a:ext cx="822960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85800"/>
          </a:xfrm>
        </p:spPr>
        <p:txBody>
          <a:bodyPr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Calibri"/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114800"/>
          </a:xfrm>
          <a:solidFill>
            <a:srgbClr val="122136"/>
          </a:solidFill>
        </p:spPr>
        <p:txBody>
          <a:bodyPr lIns="228600" rIns="228600" tIns="228600" bIns="228600" anchor="t"/>
          <a:lstStyle/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Python — Core programming language for data analysis and scripting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Pandas — Data manipulation and time-series processing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Matplotlib — Static and interactive chart generation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Seaborn — Statistical data visualization library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yFinance — Real-time and historical cryptocurrency data via Yahoo Finance API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Google Colab — Cloud-based notebook environment for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50" name="ArtCircle"/>
          <p:cNvSpPr>
            <a:spLocks noGrp="1"/>
          </p:cNvSpPr>
          <p:nvPr/>
        </p:nvSpPr>
        <p:spPr>
          <a:xfrm>
            <a:off x="7800000" y="-300000"/>
            <a:ext cx="1800000" cy="1800000"/>
          </a:xfrm>
          <a:prstGeom prst="ellipse">
            <a:avLst/>
          </a:prstGeom>
          <a:noFill/>
          <a:ln w="38100">
            <a:solidFill>
              <a:srgbClr val="F5A623">
                <a:alpha val="12000"/>
              </a:srgbClr>
            </a:solidFill>
          </a:ln>
        </p:spPr>
        <p:txBody>
          <a:bodyPr/>
          <a:lstStyle/>
          <a:p/>
        </p:txBody>
      </p:sp>
      <p:sp>
        <p:nvSpPr>
          <p:cNvPr id="51" name="ArtDot"/>
          <p:cNvSpPr>
            <a:spLocks noGrp="1"/>
          </p:cNvSpPr>
          <p:nvPr/>
        </p:nvSpPr>
        <p:spPr>
          <a:xfrm>
            <a:off x="8400000" y="300000"/>
            <a:ext cx="228600" cy="228600"/>
          </a:xfrm>
          <a:prstGeom prst="ellipse">
            <a:avLst/>
          </a:prstGeom>
          <a:solidFill>
            <a:srgbClr val="F5A623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ArtHex"/>
          <p:cNvSpPr>
            <a:spLocks noGrp="1"/>
          </p:cNvSpPr>
          <p:nvPr/>
        </p:nvSpPr>
        <p:spPr>
          <a:xfrm rot="1800000">
            <a:off x="8100000" y="5600000"/>
            <a:ext cx="500000" cy="500000"/>
          </a:xfrm>
          <a:prstGeom prst="hexagon">
            <a:avLst/>
          </a:prstGeom>
          <a:noFill/>
          <a:ln w="19050">
            <a:solidFill>
              <a:srgbClr val="A8C8E8">
                <a:alpha val="20000"/>
              </a:srgbClr>
            </a:solidFill>
          </a:ln>
        </p:spPr>
        <p:txBody>
          <a:bodyPr/>
          <a:lstStyle/>
          <a:p/>
        </p:txBody>
      </p:sp>
      <p:sp>
        <p:nvSpPr>
          <p:cNvPr id="53" name="ArtArc"/>
          <p:cNvSpPr>
            <a:spLocks noGrp="1"/>
          </p:cNvSpPr>
          <p:nvPr/>
        </p:nvSpPr>
        <p:spPr>
          <a:xfrm>
            <a:off x="-400000" y="5000000"/>
            <a:ext cx="1400000" cy="1400000"/>
          </a:xfrm>
          <a:prstGeom prst="ellipse">
            <a:avLst/>
          </a:prstGeom>
          <a:noFill/>
          <a:ln w="28575">
            <a:solidFill>
              <a:srgbClr val="A8C8E8">
                <a:alpha val="8000"/>
              </a:srgbClr>
            </a:solidFill>
          </a:ln>
        </p:spPr>
        <p:txBody>
          <a:bodyPr/>
          <a:lstStyle/>
          <a:p/>
        </p:txBody>
      </p:sp>
      <p:sp>
        <p:nvSpPr>
          <p:cNvPr id="10" name="TopBar"/>
          <p:cNvSpPr>
            <a:spLocks noGrp="1"/>
          </p:cNvSpPr>
          <p:nvPr/>
        </p:nvSpPr>
        <p:spPr>
          <a:xfrm>
            <a:off x="457200" y="457200"/>
            <a:ext cx="822960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85800"/>
          </a:xfrm>
        </p:spPr>
        <p:txBody>
          <a:bodyPr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114800"/>
          </a:xfrm>
          <a:solidFill>
            <a:srgbClr val="122136"/>
          </a:solidFill>
        </p:spPr>
        <p:txBody>
          <a:bodyPr lIns="228600" rIns="228600" tIns="228600" bIns="228600" anchor="t"/>
          <a:lstStyle/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Data Collection — Fetch historical OHLCV data using yFinance API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Data Cleaning — Handle missing values, normalize formats, filter outliers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Trend Analysis — Apply moving averages and rolling statistics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Visualization — Build charts: line plots, bar charts, histograms, heatmaps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Comparison — Cross-asset analysis of BTC, ETH, and DOGE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Result Interpretation — Extract insights and summarize findings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50" name="ArtCircle"/>
          <p:cNvSpPr>
            <a:spLocks noGrp="1"/>
          </p:cNvSpPr>
          <p:nvPr/>
        </p:nvSpPr>
        <p:spPr>
          <a:xfrm>
            <a:off x="7800000" y="-300000"/>
            <a:ext cx="1800000" cy="1800000"/>
          </a:xfrm>
          <a:prstGeom prst="ellipse">
            <a:avLst/>
          </a:prstGeom>
          <a:noFill/>
          <a:ln w="38100">
            <a:solidFill>
              <a:srgbClr val="F5A623">
                <a:alpha val="12000"/>
              </a:srgbClr>
            </a:solidFill>
          </a:ln>
        </p:spPr>
        <p:txBody>
          <a:bodyPr/>
          <a:lstStyle/>
          <a:p/>
        </p:txBody>
      </p:sp>
      <p:sp>
        <p:nvSpPr>
          <p:cNvPr id="51" name="ArtDot"/>
          <p:cNvSpPr>
            <a:spLocks noGrp="1"/>
          </p:cNvSpPr>
          <p:nvPr/>
        </p:nvSpPr>
        <p:spPr>
          <a:xfrm>
            <a:off x="8400000" y="300000"/>
            <a:ext cx="228600" cy="228600"/>
          </a:xfrm>
          <a:prstGeom prst="ellipse">
            <a:avLst/>
          </a:prstGeom>
          <a:solidFill>
            <a:srgbClr val="F5A623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ArtHex"/>
          <p:cNvSpPr>
            <a:spLocks noGrp="1"/>
          </p:cNvSpPr>
          <p:nvPr/>
        </p:nvSpPr>
        <p:spPr>
          <a:xfrm rot="1800000">
            <a:off x="8100000" y="5600000"/>
            <a:ext cx="500000" cy="500000"/>
          </a:xfrm>
          <a:prstGeom prst="hexagon">
            <a:avLst/>
          </a:prstGeom>
          <a:noFill/>
          <a:ln w="19050">
            <a:solidFill>
              <a:srgbClr val="A8C8E8">
                <a:alpha val="20000"/>
              </a:srgbClr>
            </a:solidFill>
          </a:ln>
        </p:spPr>
        <p:txBody>
          <a:bodyPr/>
          <a:lstStyle/>
          <a:p/>
        </p:txBody>
      </p:sp>
      <p:sp>
        <p:nvSpPr>
          <p:cNvPr id="53" name="ArtArc"/>
          <p:cNvSpPr>
            <a:spLocks noGrp="1"/>
          </p:cNvSpPr>
          <p:nvPr/>
        </p:nvSpPr>
        <p:spPr>
          <a:xfrm>
            <a:off x="-400000" y="5000000"/>
            <a:ext cx="1400000" cy="1400000"/>
          </a:xfrm>
          <a:prstGeom prst="ellipse">
            <a:avLst/>
          </a:prstGeom>
          <a:noFill/>
          <a:ln w="28575">
            <a:solidFill>
              <a:srgbClr val="A8C8E8">
                <a:alpha val="8000"/>
              </a:srgbClr>
            </a:solidFill>
          </a:ln>
        </p:spPr>
        <p:txBody>
          <a:bodyPr/>
          <a:lstStyle/>
          <a:p/>
        </p:txBody>
      </p:sp>
      <p:sp>
        <p:nvSpPr>
          <p:cNvPr id="10" name="TopBar"/>
          <p:cNvSpPr>
            <a:spLocks noGrp="1"/>
          </p:cNvSpPr>
          <p:nvPr/>
        </p:nvSpPr>
        <p:spPr>
          <a:xfrm>
            <a:off x="457200" y="457200"/>
            <a:ext cx="822960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85800"/>
          </a:xfrm>
        </p:spPr>
        <p:txBody>
          <a:bodyPr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Calibri"/>
              </a:rPr>
              <a:t>Visualizations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114800"/>
          </a:xfrm>
          <a:solidFill>
            <a:srgbClr val="122136"/>
          </a:solidFill>
        </p:spPr>
        <p:txBody>
          <a:bodyPr lIns="228600" rIns="228600" tIns="228600" bIns="228600" anchor="t"/>
          <a:lstStyle/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Price Trend Graph — Line chart of closing prices over time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Moving Average Analysis — 30-day &amp; 90-day SMA overlay on price chart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Trading Volume Analysis — Bar chart comparing average trading volumes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Histogram — Bitcoin price distribution across frequency bins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Correlation Heatmap — Pearson correlation matrix of asset returns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Daily Returns Analysis — Percentage change time-series for volatility insight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50" name="ArtCircle"/>
          <p:cNvSpPr>
            <a:spLocks noGrp="1"/>
          </p:cNvSpPr>
          <p:nvPr/>
        </p:nvSpPr>
        <p:spPr>
          <a:xfrm>
            <a:off x="7800000" y="-300000"/>
            <a:ext cx="1800000" cy="1800000"/>
          </a:xfrm>
          <a:prstGeom prst="ellipse">
            <a:avLst/>
          </a:prstGeom>
          <a:noFill/>
          <a:ln w="38100">
            <a:solidFill>
              <a:srgbClr val="F5A623">
                <a:alpha val="12000"/>
              </a:srgbClr>
            </a:solidFill>
          </a:ln>
        </p:spPr>
        <p:txBody>
          <a:bodyPr/>
          <a:lstStyle/>
          <a:p/>
        </p:txBody>
      </p:sp>
      <p:sp>
        <p:nvSpPr>
          <p:cNvPr id="51" name="ArtDot"/>
          <p:cNvSpPr>
            <a:spLocks noGrp="1"/>
          </p:cNvSpPr>
          <p:nvPr/>
        </p:nvSpPr>
        <p:spPr>
          <a:xfrm>
            <a:off x="8400000" y="300000"/>
            <a:ext cx="228600" cy="228600"/>
          </a:xfrm>
          <a:prstGeom prst="ellipse">
            <a:avLst/>
          </a:prstGeom>
          <a:solidFill>
            <a:srgbClr val="F5A623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ArtHex"/>
          <p:cNvSpPr>
            <a:spLocks noGrp="1"/>
          </p:cNvSpPr>
          <p:nvPr/>
        </p:nvSpPr>
        <p:spPr>
          <a:xfrm rot="1800000">
            <a:off x="8100000" y="5600000"/>
            <a:ext cx="500000" cy="500000"/>
          </a:xfrm>
          <a:prstGeom prst="hexagon">
            <a:avLst/>
          </a:prstGeom>
          <a:noFill/>
          <a:ln w="19050">
            <a:solidFill>
              <a:srgbClr val="A8C8E8">
                <a:alpha val="20000"/>
              </a:srgbClr>
            </a:solidFill>
          </a:ln>
        </p:spPr>
        <p:txBody>
          <a:bodyPr/>
          <a:lstStyle/>
          <a:p/>
        </p:txBody>
      </p:sp>
      <p:sp>
        <p:nvSpPr>
          <p:cNvPr id="53" name="ArtArc"/>
          <p:cNvSpPr>
            <a:spLocks noGrp="1"/>
          </p:cNvSpPr>
          <p:nvPr/>
        </p:nvSpPr>
        <p:spPr>
          <a:xfrm>
            <a:off x="-400000" y="5000000"/>
            <a:ext cx="1400000" cy="1400000"/>
          </a:xfrm>
          <a:prstGeom prst="ellipse">
            <a:avLst/>
          </a:prstGeom>
          <a:noFill/>
          <a:ln w="28575">
            <a:solidFill>
              <a:srgbClr val="A8C8E8">
                <a:alpha val="8000"/>
              </a:srgbClr>
            </a:solidFill>
          </a:ln>
        </p:spPr>
        <p:txBody>
          <a:bodyPr/>
          <a:lstStyle/>
          <a:p/>
        </p:txBody>
      </p:sp>
      <p:sp>
        <p:nvSpPr>
          <p:cNvPr id="10" name="TopBar"/>
          <p:cNvSpPr>
            <a:spLocks noGrp="1"/>
          </p:cNvSpPr>
          <p:nvPr/>
        </p:nvSpPr>
        <p:spPr>
          <a:xfrm>
            <a:off x="457200" y="457200"/>
            <a:ext cx="822960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85800"/>
          </a:xfrm>
        </p:spPr>
        <p:txBody>
          <a:bodyPr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114800"/>
          </a:xfrm>
          <a:solidFill>
            <a:srgbClr val="122136"/>
          </a:solidFill>
        </p:spPr>
        <p:txBody>
          <a:bodyPr lIns="228600" rIns="228600" tIns="228600" bIns="228600" anchor="t"/>
          <a:lstStyle/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Bitcoin showed dominant price growth with high volatility during 2020–2021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Ethereum demonstrated strong positive correlation with Bitcoin (r = 0.79)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Dogecoin exhibited extreme short-term spikes driven by social media trends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Moving averages confirmed trend reversals and support/resistance zones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Trading volume spikes aligned with major price movements and market events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All three assets showed elevated daily return variance, confirming high risk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50" name="ArtCircle"/>
          <p:cNvSpPr>
            <a:spLocks noGrp="1"/>
          </p:cNvSpPr>
          <p:nvPr/>
        </p:nvSpPr>
        <p:spPr>
          <a:xfrm>
            <a:off x="7800000" y="-300000"/>
            <a:ext cx="1800000" cy="1800000"/>
          </a:xfrm>
          <a:prstGeom prst="ellipse">
            <a:avLst/>
          </a:prstGeom>
          <a:noFill/>
          <a:ln w="38100">
            <a:solidFill>
              <a:srgbClr val="F5A623">
                <a:alpha val="12000"/>
              </a:srgbClr>
            </a:solidFill>
          </a:ln>
        </p:spPr>
        <p:txBody>
          <a:bodyPr/>
          <a:lstStyle/>
          <a:p/>
        </p:txBody>
      </p:sp>
      <p:sp>
        <p:nvSpPr>
          <p:cNvPr id="51" name="ArtDot"/>
          <p:cNvSpPr>
            <a:spLocks noGrp="1"/>
          </p:cNvSpPr>
          <p:nvPr/>
        </p:nvSpPr>
        <p:spPr>
          <a:xfrm>
            <a:off x="8400000" y="300000"/>
            <a:ext cx="228600" cy="228600"/>
          </a:xfrm>
          <a:prstGeom prst="ellipse">
            <a:avLst/>
          </a:prstGeom>
          <a:solidFill>
            <a:srgbClr val="F5A623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ArtHex"/>
          <p:cNvSpPr>
            <a:spLocks noGrp="1"/>
          </p:cNvSpPr>
          <p:nvPr/>
        </p:nvSpPr>
        <p:spPr>
          <a:xfrm rot="1800000">
            <a:off x="8100000" y="5600000"/>
            <a:ext cx="500000" cy="500000"/>
          </a:xfrm>
          <a:prstGeom prst="hexagon">
            <a:avLst/>
          </a:prstGeom>
          <a:noFill/>
          <a:ln w="19050">
            <a:solidFill>
              <a:srgbClr val="A8C8E8">
                <a:alpha val="20000"/>
              </a:srgbClr>
            </a:solidFill>
          </a:ln>
        </p:spPr>
        <p:txBody>
          <a:bodyPr/>
          <a:lstStyle/>
          <a:p/>
        </p:txBody>
      </p:sp>
      <p:sp>
        <p:nvSpPr>
          <p:cNvPr id="53" name="ArtArc"/>
          <p:cNvSpPr>
            <a:spLocks noGrp="1"/>
          </p:cNvSpPr>
          <p:nvPr/>
        </p:nvSpPr>
        <p:spPr>
          <a:xfrm>
            <a:off x="-400000" y="5000000"/>
            <a:ext cx="1400000" cy="1400000"/>
          </a:xfrm>
          <a:prstGeom prst="ellipse">
            <a:avLst/>
          </a:prstGeom>
          <a:noFill/>
          <a:ln w="28575">
            <a:solidFill>
              <a:srgbClr val="A8C8E8">
                <a:alpha val="8000"/>
              </a:srgbClr>
            </a:solidFill>
          </a:ln>
        </p:spPr>
        <p:txBody>
          <a:bodyPr/>
          <a:lstStyle/>
          <a:p/>
        </p:txBody>
      </p:sp>
      <p:sp>
        <p:nvSpPr>
          <p:cNvPr id="10" name="TopBar"/>
          <p:cNvSpPr>
            <a:spLocks noGrp="1"/>
          </p:cNvSpPr>
          <p:nvPr/>
        </p:nvSpPr>
        <p:spPr>
          <a:xfrm>
            <a:off x="457200" y="457200"/>
            <a:ext cx="822960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85800"/>
          </a:xfrm>
        </p:spPr>
        <p:txBody>
          <a:bodyPr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114800"/>
          </a:xfrm>
          <a:solidFill>
            <a:srgbClr val="122136"/>
          </a:solidFill>
        </p:spPr>
        <p:txBody>
          <a:bodyPr lIns="228600" rIns="228600" tIns="228600" bIns="228600" anchor="t"/>
          <a:lstStyle/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Data visualization is essential for interpreting volatile cryptocurrency markets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Moving averages and correlation analysis provide reliable technical signals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Python + Pandas + yFinance form a powerful open-source analytical stack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Visual analytics supports better-informed, data-driven investment decisions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D4E9F7"/>
                </a:solidFill>
                <a:latin typeface="Calibri"/>
              </a:rPr>
              <a:t>▸  Future work: extend to real-time dashboards and predictive ML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50" name="ArtCircle"/>
          <p:cNvSpPr>
            <a:spLocks noGrp="1"/>
          </p:cNvSpPr>
          <p:nvPr/>
        </p:nvSpPr>
        <p:spPr>
          <a:xfrm>
            <a:off x="7800000" y="-300000"/>
            <a:ext cx="1800000" cy="1800000"/>
          </a:xfrm>
          <a:prstGeom prst="ellipse">
            <a:avLst/>
          </a:prstGeom>
          <a:noFill/>
          <a:ln w="38100">
            <a:solidFill>
              <a:srgbClr val="F5A623">
                <a:alpha val="12000"/>
              </a:srgbClr>
            </a:solidFill>
          </a:ln>
        </p:spPr>
        <p:txBody>
          <a:bodyPr/>
          <a:lstStyle/>
          <a:p/>
        </p:txBody>
      </p:sp>
      <p:sp>
        <p:nvSpPr>
          <p:cNvPr id="51" name="ArtDot"/>
          <p:cNvSpPr>
            <a:spLocks noGrp="1"/>
          </p:cNvSpPr>
          <p:nvPr/>
        </p:nvSpPr>
        <p:spPr>
          <a:xfrm>
            <a:off x="8400000" y="300000"/>
            <a:ext cx="228600" cy="228600"/>
          </a:xfrm>
          <a:prstGeom prst="ellipse">
            <a:avLst/>
          </a:prstGeom>
          <a:solidFill>
            <a:srgbClr val="F5A623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ArtHex"/>
          <p:cNvSpPr>
            <a:spLocks noGrp="1"/>
          </p:cNvSpPr>
          <p:nvPr/>
        </p:nvSpPr>
        <p:spPr>
          <a:xfrm rot="1800000">
            <a:off x="8100000" y="5600000"/>
            <a:ext cx="500000" cy="500000"/>
          </a:xfrm>
          <a:prstGeom prst="hexagon">
            <a:avLst/>
          </a:prstGeom>
          <a:noFill/>
          <a:ln w="19050">
            <a:solidFill>
              <a:srgbClr val="A8C8E8">
                <a:alpha val="20000"/>
              </a:srgbClr>
            </a:solidFill>
          </a:ln>
        </p:spPr>
        <p:txBody>
          <a:bodyPr/>
          <a:lstStyle/>
          <a:p/>
        </p:txBody>
      </p:sp>
      <p:sp>
        <p:nvSpPr>
          <p:cNvPr id="53" name="ArtArc"/>
          <p:cNvSpPr>
            <a:spLocks noGrp="1"/>
          </p:cNvSpPr>
          <p:nvPr/>
        </p:nvSpPr>
        <p:spPr>
          <a:xfrm>
            <a:off x="-400000" y="5000000"/>
            <a:ext cx="1400000" cy="1400000"/>
          </a:xfrm>
          <a:prstGeom prst="ellipse">
            <a:avLst/>
          </a:prstGeom>
          <a:noFill/>
          <a:ln w="28575">
            <a:solidFill>
              <a:srgbClr val="A8C8E8">
                <a:alpha val="8000"/>
              </a:srgbClr>
            </a:solidFill>
          </a:ln>
        </p:spPr>
        <p:txBody>
          <a:bodyPr/>
          <a:lstStyle/>
          <a:p/>
        </p:txBody>
      </p:sp>
      <p:sp>
        <p:nvSpPr>
          <p:cNvPr id="10" name="Circle"/>
          <p:cNvSpPr>
            <a:spLocks noGrp="1"/>
          </p:cNvSpPr>
          <p:nvPr/>
        </p:nvSpPr>
        <p:spPr>
          <a:xfrm>
            <a:off x="3657600" y="685800"/>
            <a:ext cx="1828800" cy="1828800"/>
          </a:xfrm>
          <a:prstGeom prst="ellipse">
            <a:avLst/>
          </a:prstGeom>
          <a:solidFill>
            <a:srgbClr val="F5A623">
              <a:alpha val="20000"/>
            </a:srgbClr>
          </a:solidFill>
          <a:ln w="38100">
            <a:solidFill>
              <a:srgbClr val="F5A623"/>
            </a:solidFill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0"/>
            <a:ext cx="8229600" cy="1143000"/>
          </a:xfrm>
        </p:spPr>
        <p:txBody>
          <a:bodyPr anchor="ctr"/>
          <a:lstStyle/>
          <a:p>
            <a:pPr algn="ctr"/>
            <a:r>
              <a:rPr lang="en-US" sz="5400" b="1" dirty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00000"/>
            <a:ext cx="8229600" cy="685800"/>
          </a:xfrm>
        </p:spPr>
        <p:txBody>
          <a:bodyPr anchor="t"/>
          <a:lstStyle/>
          <a:p>
            <a:pPr algn="ctr"/>
            <a:r>
              <a:rPr lang="en-US" sz="2400" b="0" i="1" dirty="0">
                <a:solidFill>
                  <a:srgbClr val="F5A623"/>
                </a:solidFill>
                <a:latin typeface="Calibri"/>
              </a:rPr>
              <a:t>Questions &amp; Discussion Welcome</a:t>
            </a:r>
          </a:p>
        </p:txBody>
      </p:sp>
      <p:sp>
        <p:nvSpPr>
          <p:cNvPr id="12" name="Author"/>
          <p:cNvSpPr>
            <a:spLocks noGrp="1"/>
          </p:cNvSpPr>
          <p:nvPr/>
        </p:nvSpPr>
        <p:spPr>
          <a:xfrm>
            <a:off x="457200" y="5943600"/>
            <a:ext cx="82296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dirty="0">
                <a:solidFill>
                  <a:srgbClr val="5B7FA6"/>
                </a:solidFill>
                <a:latin typeface="Calibri"/>
              </a:rPr>
              <a:t>Riyaz Ahamed S  |  BCA AI &amp; DS  |  Cryptocurrency Trend Analysis Using Data Visualization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solidFill>
                  <a:srgbClr val="FFFFFF"/>
                </a:solidFill>
                <a:latin typeface="Calibri"/>
              </a:rPr>
              <a:t>Price Trend Analysis</a:t>
            </a:r>
          </a:p>
        </p:txBody>
      </p:sp>
      <p:pic>
        <p:nvPicPr>
          <p:cNvPr id="3" name="Char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82296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solidFill>
                  <a:srgbClr val="FFFFFF"/>
                </a:solidFill>
                <a:latin typeface="Calibri"/>
              </a:rPr>
              <a:t>Moving Average Analysis</a:t>
            </a:r>
          </a:p>
        </p:txBody>
      </p:sp>
      <p:pic>
        <p:nvPicPr>
          <p:cNvPr id="3" name="Char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82296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solidFill>
                  <a:srgbClr val="FFFFFF"/>
                </a:solidFill>
                <a:latin typeface="Calibri"/>
              </a:rPr>
              <a:t>Trading Volume Analysis</a:t>
            </a:r>
          </a:p>
        </p:txBody>
      </p:sp>
      <p:pic>
        <p:nvPicPr>
          <p:cNvPr id="3" name="Char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82296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solidFill>
                  <a:srgbClr val="FFFFFF"/>
                </a:solidFill>
                <a:latin typeface="Calibri"/>
              </a:rPr>
              <a:t>Bitcoin Price Distribution</a:t>
            </a:r>
          </a:p>
        </p:txBody>
      </p:sp>
      <p:pic>
        <p:nvPicPr>
          <p:cNvPr id="3" name="Char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82296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solidFill>
                  <a:srgbClr val="FFFFFF"/>
                </a:solidFill>
                <a:latin typeface="Calibri"/>
              </a:rPr>
              <a:t>Cryptocurrency Correlation Heatmap</a:t>
            </a:r>
          </a:p>
        </p:txBody>
      </p:sp>
      <p:pic>
        <p:nvPicPr>
          <p:cNvPr id="3" name="Char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82296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solidFill>
                  <a:srgbClr val="FFFFFF"/>
                </a:solidFill>
                <a:latin typeface="Calibri"/>
              </a:rPr>
              <a:t>Daily Returns Analysis</a:t>
            </a:r>
          </a:p>
        </p:txBody>
      </p:sp>
      <p:pic>
        <p:nvPicPr>
          <p:cNvPr id="3" name="Char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8229600" cy="480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